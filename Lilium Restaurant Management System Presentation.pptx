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5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sentence. Stress that the focus is the object-oriented design, not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 problem first: orders, tables and bills tracked by hand cause mistakes. The plan: requirements, class design, OOP, business logic, file storage, GUI,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 calls the model; the service converts the model to and from dictionaries; the FileManager is the only class that touches the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Restaurant owns everything. Order has OrderItems, each pointing to a MenuItem, and Order has one Discount. Table, Customer and Payment are linked by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Constructors validate their input so an invalid object can never exist. Type hints are used on every parameter and return value across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price is stored in a private attribute. The property setter is the only way in, so an invalid price can never be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 cannot be instantiated. It defines the contract (apply and describe) that every discount type must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never checks which discount it holds. It just calls apply(), and the object decides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error inherits from RestaurantError, so callers can catch one specific error or the whole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owns collections of objects. Order owns its OrderItems. Orders refer to tables and customers by id to stay loosely coupled.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checkout_order asks Order to check out, creates a Payment and tells Table to free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these three live: occupied table, zero quantity, empty checkout. Each one raises a specific exception that the GUI turns into a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knows how to describe itself as a dictionary. RestaurantService rebuilds the full object graph on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your three screenshots in the frames. The GUI only calls Restaurant methods and shows str(error) in message boxes. All rules stay in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with: pytest tests/test_scenarios.py -v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point at each row and name the class that demonstrates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FINAL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in Python: classes, inheritance, polymorphism, encapsulation and composition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E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Project  |   By: Yomn Osama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8229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822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6517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MenuItem()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Discount()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restaurants run on paper and memory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and memory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368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Orders, tables and customers are tracked by hand, so mistakes and lost details are common.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view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4368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Staff cannot quickly see which tables are taken, what is on the menu or what is owed.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at peak time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4368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Recalculating bills and searching records wastes minutes when the restaurant is busiest.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684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97286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Model the restaurant as objects (tables, menu, customers, orders, payments) so the business rules live in the classes and the totals are always calculated automatically.</a:t>
            </a:r>
            <a:endParaRPr lang="en-US" sz="14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 with one job each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gui/  RestaurantApp</a:t>
            </a:r>
            <a:endParaRPr lang="en-US" sz="1200" dirty="0">
              <a:latin typeface="Berlin Sans FB Demi" panose="020E0802020502020306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(Tkinter, thin client)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38328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models/  Restaurant</a:t>
            </a:r>
            <a:endParaRPr lang="en-US" sz="1200" dirty="0">
              <a:latin typeface="Berlin Sans FB Demi" panose="020E0802020502020306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(business rules)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services/  RestaurantService</a:t>
            </a:r>
            <a:endParaRPr lang="en-US" sz="1200" dirty="0">
              <a:latin typeface="Berlin Sans FB Demi" panose="020E0802020502020306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(object &lt;-&gt; dict)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09360" y="31089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file_manager/  FileManager</a:t>
            </a:r>
            <a:endParaRPr lang="en-US" sz="1200" dirty="0">
              <a:latin typeface="Berlin Sans FB Demi" panose="020E0802020502020306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(JSON read / write)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83280" y="31089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exceptions.py  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RestaurantError</a:t>
            </a:r>
            <a:r>
              <a:rPr lang="en-US" sz="1200" b="1" dirty="0">
                <a:solidFill>
                  <a:srgbClr val="FFFFFF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 tree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834640" y="1920240"/>
            <a:ext cx="54864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760720" y="1920240"/>
            <a:ext cx="54864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498080" y="2377440"/>
            <a:ext cx="0" cy="73152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57200" y="3108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The interface can change without touching the rules. JSON can be swapped for a database by replacing one class.</a:t>
            </a:r>
            <a:endParaRPr lang="en-US" sz="1300" dirty="0">
              <a:latin typeface="Baskerville Old Face" panose="02020602080505020303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33832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Every layer raises and catches the same custom exceptions.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classes and how they relate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207008"/>
            <a:ext cx="8193024" cy="274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3619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menu, tables, customers, orders: dict  |  payments: list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create_order()  checkout_order()  dashboard_stats()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7A819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2212848"/>
            <a:ext cx="1810512" cy="292608"/>
          </a:xfrm>
          <a:prstGeom prst="rect">
            <a:avLst/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16512" y="2212848"/>
            <a:ext cx="1323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5420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table_id, capacity, 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occupy()  free()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1546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7A819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" y="3172968"/>
            <a:ext cx="1810512" cy="256032"/>
          </a:xfrm>
          <a:prstGeom prst="rect">
            <a:avLst/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0504" y="3172968"/>
            <a:ext cx="15217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502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name, phone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matches()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7A819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4133088"/>
            <a:ext cx="1810512" cy="274320"/>
          </a:xfrm>
          <a:prstGeom prst="rect">
            <a:avLst/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0504" y="4133088"/>
            <a:ext cx="158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46227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payment_id, order_id, amount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method, timestamp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834640" y="21945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52928" y="2212848"/>
            <a:ext cx="1975104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3464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926080" y="25420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table_id, 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items, discount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add_item()  checkout()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03520" y="21945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21808" y="2212848"/>
            <a:ext cx="1609344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0352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25420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menu_item, quantity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342496" y="21945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58872" y="2212848"/>
            <a:ext cx="134376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42496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MenuItem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433936" y="254203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category, __price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(property)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834640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852928" y="3767328"/>
            <a:ext cx="1975104" cy="274320"/>
          </a:xfrm>
          <a:prstGeom prst="rect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83464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 (ABC)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92608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apply()  describe()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303520" y="37490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21808" y="3767328"/>
            <a:ext cx="1014984" cy="274320"/>
          </a:xfrm>
          <a:prstGeom prst="rect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03520" y="3767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NoDiscount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394960" y="4096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464808" y="37490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83096" y="3767328"/>
            <a:ext cx="1014984" cy="274320"/>
          </a:xfrm>
          <a:prstGeom prst="rect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64808" y="3767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556248" y="4096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626096" y="37490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B1F2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51208" y="3767328"/>
            <a:ext cx="1014984" cy="274320"/>
          </a:xfrm>
          <a:prstGeom prst="rect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26096" y="376732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FixedAmount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7717536" y="4096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846320" y="2743200"/>
            <a:ext cx="4572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6949440" y="2651760"/>
            <a:ext cx="409432" cy="2184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3840480" y="3291840"/>
            <a:ext cx="0" cy="45720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4846320" y="4069080"/>
            <a:ext cx="4572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53" name="Text 50"/>
          <p:cNvSpPr txBox="1"/>
          <p:nvPr/>
        </p:nvSpPr>
        <p:spPr>
          <a:xfrm>
            <a:off x="4880440" y="25076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many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6971960" y="2416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3899848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one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4892040" y="4434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2882408" y="4653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Table, Customer and Payment are linked to orders by id.</a:t>
            </a:r>
            <a:endParaRPr lang="en-US" sz="9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AND TYPE HINTS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__init__ builds valid objects only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937760" cy="3383280"/>
          </a:xfrm>
          <a:prstGeom prst="roundRect">
            <a:avLst>
              <a:gd name="adj" fmla="val 3243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Table: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table_id: 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capacity: 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status: str = AVAILABLE) -&gt; None: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capacity &lt;=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raise ValidationError(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"Table capacity must be &gt; 0.")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self.table_id: int = table_id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self.capacity: int = capacity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self.status: str = status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1280160"/>
            <a:ext cx="30175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360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inside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6527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Payment, OrderItem and the Discount classes reject bad input in __init__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441448"/>
            <a:ext cx="30175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2521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8140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defaults to Available; Order sets created_at to now and discount to NoDiscount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602736"/>
            <a:ext cx="30175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3689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everywhere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39753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parameter, return value and attribute is annotated, for example -&gt; None and Dict[str, Any]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MenuItem protects its own price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MenuItem: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item_id, 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category, price, available=True):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self.__price = 0.0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self.price = price   # uses the setter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@property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price(self): return self.__price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@price.setter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price(self, value):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value &lt;=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raise ValidationError("Price &gt; 0")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self.__price = round(float(value), 2)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280160"/>
            <a:ext cx="2834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366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attribute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6595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__price is name-mangled and hidden from outside 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441448"/>
            <a:ext cx="2834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2528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getter / setter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8208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item.price reads like a field but runs validation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3602736"/>
            <a:ext cx="2834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369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at the source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98214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and updates both go through the setter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AND INHERITANCE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Discount: an abstract base class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754880" cy="2377440"/>
          </a:xfrm>
          <a:prstGeom prst="roundRect">
            <a:avLst>
              <a:gd name="adj" fmla="val 4615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Discount(ABC):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@abstractmethod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apply(self, total: float) -&gt; float: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"""Total after the discount."""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@abstractmethod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describe(self) -&gt; str: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"""Short readable description."""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28016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  (ABC)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1828800"/>
            <a:ext cx="0" cy="41148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223760" y="1828800"/>
            <a:ext cx="0" cy="109728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760720" y="361188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FixedAmountDiscount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23760" y="1828800"/>
            <a:ext cx="0" cy="178308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760720" y="224028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92608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27721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Each subclass supplies its own apply() and describe(). Constructors validate their own input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(percent 0-100, amount &gt; 0).</a:t>
            </a:r>
            <a:endParaRPr lang="en-US" sz="1400" dirty="0">
              <a:latin typeface="Bodoni MT" panose="02070603080606020203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760716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NoDiscount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760716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PercentageDiscount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three behaviours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572000" cy="2103120"/>
          </a:xfrm>
          <a:prstGeom prst="roundRect">
            <a:avLst>
              <a:gd name="adj" fmla="val 5217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calculate_total(self) -&gt; float: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round(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self.discount.apply(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self.calculate_subtotal()), 2)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default: no if/else needed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self.discount = discount or NoDiscount()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03520" y="1280160"/>
            <a:ext cx="33832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12801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NoDiscount()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56144" y="12801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100.00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303520" y="2029968"/>
            <a:ext cx="33832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0680" y="20299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PercentageDiscount(10)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56144" y="20299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90.00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303520" y="2779776"/>
            <a:ext cx="33832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40680" y="27797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FixedAmountDiscount(15)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56144" y="277977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85.00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310344" y="3525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Subtotal = 100.00 in all three rows</a:t>
            </a:r>
            <a:endParaRPr lang="en-US" sz="1100" dirty="0">
              <a:latin typeface="Bodoni MT" panose="02070603080606020203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Adding a new discount type (for example buy-one-get-one) means writing one new subclass. Order, Restaurant and the tests stay unchanged.</a:t>
            </a:r>
            <a:endParaRPr lang="en-US" sz="14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exception hierarchy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0" y="123444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743200" y="1234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RestaurantError  (Exception)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205740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TableNotFoundError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TableOccupiedError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25603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MenuItemNotFoundError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MenuItemUnavailableError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306324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3063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InvalidQuantityError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566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EmptyOrderError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35661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00400" y="3566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OrderNotFoundError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06908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4069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CustomerNotFoundError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406908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00400" y="4069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InvalidPaymentError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26480" y="2057400"/>
            <a:ext cx="25603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63640" y="2189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2509824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Each rule has a named error, such as TableOccupiedError or EmptyOrderError.</a:t>
            </a:r>
            <a:endParaRPr lang="en-US" sz="1200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endParaRPr lang="en-US" sz="1200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One except RestaurantError block catches all of them.</a:t>
            </a:r>
            <a:endParaRPr lang="en-US" sz="1200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endParaRPr lang="en-US" sz="1200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The GUI shows str(error) to the user.</a:t>
            </a:r>
            <a:endParaRPr lang="en-US" sz="12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AND ASSOCIATION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objects fit together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194560" y="1737360"/>
            <a:ext cx="4572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51760" y="13716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4572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846320" y="13716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0" y="1737360"/>
            <a:ext cx="457200" cy="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040880" y="13716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4088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MenuItem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many</a:t>
            </a:r>
            <a:endParaRPr lang="en-US" sz="1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many</a:t>
            </a:r>
            <a:endParaRPr lang="en-US" sz="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</a:t>
            </a:r>
            <a:endParaRPr lang="en-US" sz="100" dirty="0"/>
          </a:p>
        </p:txBody>
      </p:sp>
      <p:sp>
        <p:nvSpPr>
          <p:cNvPr id="19" name="Shape 16"/>
          <p:cNvSpPr/>
          <p:nvPr/>
        </p:nvSpPr>
        <p:spPr>
          <a:xfrm>
            <a:off x="4480560" y="274320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056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349240" y="2103120"/>
            <a:ext cx="0" cy="64008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57200" y="36118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703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9775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Restaurant holds dicts of MenuItem, Table, Customer and Order objects. Order holds a list of OrderItem.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46120" y="36118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83280" y="3703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383280" y="39775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OrderItem keeps a reference to a shared MenuItem. Order holds a Discount.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35040" y="36118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72200" y="3703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by id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39775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Order stores table_id and customer_id, and Restaurant looks them up.</a:t>
            </a:r>
            <a:endParaRPr lang="en-US" sz="1100" dirty="0">
              <a:latin typeface="Baskerville Old Face" panose="02020602080505020303" pitchFamily="18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AND DELEGATION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coordinates, objects do the work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checkout_order(self, order_id,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method="Cash"):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= self.get_order(order_id)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order.checkout()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 = Payment(self._next_payment_id,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order_id, total, method)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self.payments.append(payment)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self._next_payment_id +=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self.get_table(order.table_id).free()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payment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2801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Order.checkout()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72632" y="18105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validates not empty, sets status to Paid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69480" y="2331720"/>
            <a:ext cx="0" cy="9144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852160" y="24231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Payment(...)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872632" y="29535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validates amount &gt; 0, stamps the time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269480" y="3474720"/>
            <a:ext cx="0" cy="9144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52160" y="35661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Table.free()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872632" y="40965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status goes back to Available</a:t>
            </a:r>
            <a:endParaRPr lang="en-US" sz="1200" dirty="0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the objects enforce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Occupied table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Table.occupy()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" y="20116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48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self.status == OCCUPIED: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 TableOccupiedError(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"Table is already occupied.")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33375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TableOccupiedError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above zero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OrderItem.__init__()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20116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66160" y="2148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quantity &lt;= 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 InvalidQuantityError(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"Quantity must be &gt; 0.")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0" y="33375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832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InvalidQuantityError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12801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empty checkout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664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Order.checkout()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72200" y="20116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55080" y="2148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self.is_empty: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 EmptyOrderError(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 has no items.")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72200" y="333756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7220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EmptyOrderError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The order total is never typed in: calculate_total() always computes it from the items and the discount.</a:t>
            </a:r>
            <a:endParaRPr lang="en-US" sz="13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to JSON and back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754880" cy="2743200"/>
          </a:xfrm>
          <a:prstGeom prst="roundRect">
            <a:avLst>
              <a:gd name="adj" fmla="val 4000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@classmethod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from_dict(cls, data):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cls(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customer_id=data["customer_id"],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name=data["name"],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phone=data.get("phone", ""))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Order.to_dict stores the discount type: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 self.discount.__class__.__name__}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77840" y="12801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1280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1783080"/>
            <a:ext cx="0" cy="27432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577840" y="205740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RestaurantService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2560320"/>
            <a:ext cx="0" cy="27432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577840" y="283464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FileManager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3337560"/>
            <a:ext cx="0" cy="274320"/>
          </a:xfrm>
          <a:prstGeom prst="line">
            <a:avLst/>
          </a:prstGeom>
          <a:noFill/>
          <a:ln w="19050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577840" y="361188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7A8194"/>
          </a:solidFill>
          <a:ln w="12700">
            <a:solidFill>
              <a:srgbClr val="7A819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restaurant_data.json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Only FileManager touches the disk, and _discount_from_dict rebuilds the correct Discount subclass when loading.</a:t>
            </a:r>
            <a:endParaRPr lang="en-US" sz="1300" dirty="0"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thin Tkinter client on top of the model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07072" y="3669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7072" y="3970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live numbers from dashboard_stats()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77880" y="3669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tables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177880" y="3970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 call the model methods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30576" y="3669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feedback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30576" y="3970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appear as readable messages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0AA1AA6-A47C-4EE6-B5D0-BA12D9BB2A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76" t="3195"/>
          <a:stretch/>
        </p:blipFill>
        <p:spPr>
          <a:xfrm>
            <a:off x="217971" y="1191313"/>
            <a:ext cx="2688863" cy="21319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49818A-EB2C-4C81-B6EC-238994695D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46" t="3381" r="1044" b="1237"/>
          <a:stretch/>
        </p:blipFill>
        <p:spPr>
          <a:xfrm>
            <a:off x="3136725" y="1203493"/>
            <a:ext cx="2797679" cy="21370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83F63B9-4EA5-45E1-B989-4B0FEA58F8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69" t="3241" r="746" b="1237"/>
          <a:stretch/>
        </p:blipFill>
        <p:spPr>
          <a:xfrm>
            <a:off x="6153242" y="1196275"/>
            <a:ext cx="2797679" cy="21487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scenarios prove the rules hold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835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9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flows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636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add item, full order, search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6032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14835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39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27636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negative price, zero quantity, missing table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4835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A81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39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7636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occupied table, empty checkout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0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14835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39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27636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merged items, 100% discount and cancel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pytest.raises(TableOccupiedError):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restaurant.create_order(table_id=1)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concepts and where they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9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MenuItem.__price with property setter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9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Discount(ABC) with abstract methods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6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6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RestaurantError and its 10 subclasses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26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56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discount.apply() inside Order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29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31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Restaurant, Order and OrderItem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29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methods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31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from_dict() on each model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998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methods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299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__str__ on every model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2B3142"/>
          </a:solidFill>
          <a:ln w="12700">
            <a:solidFill>
              <a:srgbClr val="2B31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998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299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DD6"/>
                </a:solidFill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models, service, FileManager, GUI</a:t>
            </a:r>
            <a:endParaRPr lang="en-US" sz="1200" dirty="0">
              <a:latin typeface="Bodoni MT" panose="02070603080606020203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1867</Words>
  <Application>Microsoft Office PowerPoint</Application>
  <PresentationFormat>On-screen Show (16:9)</PresentationFormat>
  <Paragraphs>309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Baskerville Old Face</vt:lpstr>
      <vt:lpstr>Bell MT</vt:lpstr>
      <vt:lpstr>Berlin Sans FB Demi</vt:lpstr>
      <vt:lpstr>Bodoni MT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Management System - OOP</dc:title>
  <dc:subject>PptxGenJS Presentation</dc:subject>
  <dc:creator>PptxGenJS</dc:creator>
  <cp:lastModifiedBy>yomn osama</cp:lastModifiedBy>
  <cp:revision>2</cp:revision>
  <dcterms:created xsi:type="dcterms:W3CDTF">2026-09-30T15:06:07Z</dcterms:created>
  <dcterms:modified xsi:type="dcterms:W3CDTF">2026-09-30T17:02:48Z</dcterms:modified>
</cp:coreProperties>
</file>