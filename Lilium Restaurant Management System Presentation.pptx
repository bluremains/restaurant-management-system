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61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35771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 in one sentence. Stress that the focus is the object-oriented design, not the interface.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real problem first: orders, tables and bills tracked by hand cause mistakes. The plan: requirements, class design, OOP, business logic, file storage, GUI,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GUI calls the model; the service converts the model to and from dictionaries; the FileManager is the only class that touches the disk.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through: Restaurant owns everything. Order has OrderItems, each pointing to a MenuItem, and Order has one Discount. Table, Customer and Payment are linked by 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Constructors validate their input so an invalid object can never exist. Type hints are used on every parameter and return value across the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price is stored in a private attribute. The property setter is the only way in, so an invalid price can never be stored.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Discount cannot be instantiated. It defines the contract (apply and describe) that every discount type must implement.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never checks which discount it holds. It just calls apply(), and the object decides the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error inherits from RestaurantError, so callers can catch one specific error or the whole family.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Restaurant owns collections of objects. Order owns its OrderItems. Orders refer to tables and customers by id to stay loosely coupled.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checkout_order asks Order to check out, creates a Payment and tells Table to free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these three live: occupied table, zero quantity, empty checkout. Each one raises a specific exception that the GUI turns into a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model knows how to describe itself as a dictionary. RestaurantService rebuilds the full object graph on 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Put your three screenshots in the frames. The GUI only calls Restaurant methods and shows str(error) in message boxes. All rules stay in the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with: pytest tests/test_scenarios.py -v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Recap: point at each row and name the class that demonstrates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FINAL PROJECT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Restaurant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System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803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Object-oriented design in Python: classes, inheritance, polymorphism, encapsulation and composition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97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E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Project  |   By: Yomn Osama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126480" y="822960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126480" y="8229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Restaurant()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26480" y="1737360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2B3142"/>
          </a:solidFill>
          <a:ln w="12700">
            <a:solidFill>
              <a:srgbClr val="2B314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26480" y="17373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Order()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2651760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2B3142"/>
          </a:solidFill>
          <a:ln w="12700">
            <a:solidFill>
              <a:srgbClr val="2B31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26480" y="26517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MenuItem()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26480" y="3566160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2B3142"/>
          </a:solidFill>
          <a:ln w="12700">
            <a:solidFill>
              <a:srgbClr val="2B314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26480" y="35661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Discount()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REAL-WORLD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restaurants run on paper and memory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26517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DE0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463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057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Paper and memory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43680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270"/>
                </a:solidFill>
                <a:latin typeface="Bell MT" panose="02020503060305020303" pitchFamily="18" charset="0"/>
                <a:ea typeface="Calibri" pitchFamily="34" charset="-122"/>
                <a:cs typeface="Calibri" pitchFamily="34" charset="-120"/>
              </a:rPr>
              <a:t>Orders, tables and customers are tracked by hand, so mistakes and lost details are common.</a:t>
            </a:r>
            <a:endParaRPr lang="en-US" sz="1200" dirty="0">
              <a:latin typeface="Bell MT" panose="02020503060305020303" pitchFamily="18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246120" y="1280160"/>
            <a:ext cx="26517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DE0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29000" y="1463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4290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429000" y="2057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view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429000" y="243680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270"/>
                </a:solidFill>
                <a:latin typeface="Bell MT" panose="02020503060305020303" pitchFamily="18" charset="0"/>
                <a:ea typeface="Calibri" pitchFamily="34" charset="-122"/>
                <a:cs typeface="Calibri" pitchFamily="34" charset="-120"/>
              </a:rPr>
              <a:t>Staff cannot quickly see which tables are taken, what is on the menu or what is owed.</a:t>
            </a:r>
            <a:endParaRPr lang="en-US" sz="1200" dirty="0">
              <a:latin typeface="Bell MT" panose="02020503060305020303" pitchFamily="18" charset="0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6035040" y="1280160"/>
            <a:ext cx="26517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DE0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17920" y="1463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1792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217920" y="2057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 at peak time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217920" y="243680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270"/>
                </a:solidFill>
                <a:latin typeface="Bell MT" panose="02020503060305020303" pitchFamily="18" charset="0"/>
                <a:ea typeface="Calibri" pitchFamily="34" charset="-122"/>
                <a:cs typeface="Calibri" pitchFamily="34" charset="-120"/>
              </a:rPr>
              <a:t>Recalculating bills and searching records wastes minutes when the restaurant is busiest.</a:t>
            </a:r>
            <a:endParaRPr lang="en-US" sz="1200" dirty="0">
              <a:latin typeface="Bell MT" panose="02020503060305020303" pitchFamily="18" charset="0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457200" y="3566160"/>
            <a:ext cx="8229600" cy="1097280"/>
          </a:xfrm>
          <a:prstGeom prst="roundRect">
            <a:avLst>
              <a:gd name="adj" fmla="val 10000"/>
            </a:avLst>
          </a:prstGeom>
          <a:solidFill>
            <a:srgbClr val="1B1F2A"/>
          </a:solidFill>
          <a:ln w="12700">
            <a:solidFill>
              <a:srgbClr val="1B1F2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36848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3972864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Bell MT" panose="02020503060305020303" pitchFamily="18" charset="0"/>
                <a:ea typeface="Calibri" pitchFamily="34" charset="-122"/>
                <a:cs typeface="Calibri" pitchFamily="34" charset="-120"/>
              </a:rPr>
              <a:t>Model the restaurant as objects (tables, menu, customers, orders, payments) so the business rules live in the classes and the totals are always calculated automatically.</a:t>
            </a:r>
            <a:endParaRPr lang="en-US" sz="1400" dirty="0">
              <a:latin typeface="Bell MT" panose="02020503060305020303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Layers with one job each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377440" cy="914400"/>
          </a:xfrm>
          <a:prstGeom prst="roundRect">
            <a:avLst>
              <a:gd name="adj" fmla="val 10000"/>
            </a:avLst>
          </a:prstGeom>
          <a:solidFill>
            <a:srgbClr val="7A8194"/>
          </a:solidFill>
          <a:ln w="12700">
            <a:solidFill>
              <a:srgbClr val="7A819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14630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Berlin Sans FB Demi" panose="020E0802020502020306" pitchFamily="34" charset="0"/>
                <a:ea typeface="Calibri" pitchFamily="34" charset="-122"/>
                <a:cs typeface="Calibri" pitchFamily="34" charset="-120"/>
              </a:rPr>
              <a:t>gui/  RestaurantApp</a:t>
            </a:r>
            <a:endParaRPr lang="en-US" sz="1200" dirty="0">
              <a:latin typeface="Berlin Sans FB Demi" panose="020E0802020502020306" pitchFamily="34" charset="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Berlin Sans FB Demi" panose="020E0802020502020306" pitchFamily="34" charset="0"/>
                <a:ea typeface="Calibri" pitchFamily="34" charset="-122"/>
                <a:cs typeface="Calibri" pitchFamily="34" charset="-120"/>
              </a:rPr>
              <a:t>(Tkinter, thin client)</a:t>
            </a:r>
            <a:endParaRPr lang="en-US" sz="1200" dirty="0">
              <a:latin typeface="Berlin Sans FB Demi" panose="020E0802020502020306" pitchFamily="34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3383280" y="1463040"/>
            <a:ext cx="2377440" cy="914400"/>
          </a:xfrm>
          <a:prstGeom prst="roundRect">
            <a:avLst>
              <a:gd name="adj" fmla="val 10000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83280" y="14630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Berlin Sans FB Demi" panose="020E0802020502020306" pitchFamily="34" charset="0"/>
                <a:ea typeface="Calibri" pitchFamily="34" charset="-122"/>
                <a:cs typeface="Calibri" pitchFamily="34" charset="-120"/>
              </a:rPr>
              <a:t>models/  Restaurant</a:t>
            </a:r>
            <a:endParaRPr lang="en-US" sz="1200" dirty="0">
              <a:latin typeface="Berlin Sans FB Demi" panose="020E0802020502020306" pitchFamily="34" charset="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Berlin Sans FB Demi" panose="020E0802020502020306" pitchFamily="34" charset="0"/>
                <a:ea typeface="Calibri" pitchFamily="34" charset="-122"/>
                <a:cs typeface="Calibri" pitchFamily="34" charset="-120"/>
              </a:rPr>
              <a:t>(business rules)</a:t>
            </a:r>
            <a:endParaRPr lang="en-US" sz="1200" dirty="0">
              <a:latin typeface="Berlin Sans FB Demi" panose="020E0802020502020306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309360" y="1463040"/>
            <a:ext cx="2377440" cy="914400"/>
          </a:xfrm>
          <a:prstGeom prst="roundRect">
            <a:avLst>
              <a:gd name="adj" fmla="val 1000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09360" y="14630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Berlin Sans FB Demi" panose="020E0802020502020306" pitchFamily="34" charset="0"/>
                <a:ea typeface="Calibri" pitchFamily="34" charset="-122"/>
                <a:cs typeface="Calibri" pitchFamily="34" charset="-120"/>
              </a:rPr>
              <a:t>services/  RestaurantService</a:t>
            </a:r>
            <a:endParaRPr lang="en-US" sz="1200" dirty="0">
              <a:latin typeface="Berlin Sans FB Demi" panose="020E0802020502020306" pitchFamily="34" charset="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Berlin Sans FB Demi" panose="020E0802020502020306" pitchFamily="34" charset="0"/>
                <a:ea typeface="Calibri" pitchFamily="34" charset="-122"/>
                <a:cs typeface="Calibri" pitchFamily="34" charset="-120"/>
              </a:rPr>
              <a:t>(object &lt;-&gt; dict)</a:t>
            </a:r>
            <a:endParaRPr lang="en-US" sz="1200" dirty="0">
              <a:latin typeface="Berlin Sans FB Demi" panose="020E0802020502020306" pitchFamily="34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6309360" y="3108960"/>
            <a:ext cx="2377440" cy="914400"/>
          </a:xfrm>
          <a:prstGeom prst="roundRect">
            <a:avLst>
              <a:gd name="adj" fmla="val 10000"/>
            </a:avLst>
          </a:prstGeom>
          <a:solidFill>
            <a:srgbClr val="1B1F2A"/>
          </a:solidFill>
          <a:ln w="12700">
            <a:solidFill>
              <a:srgbClr val="1B1F2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09360" y="31089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Berlin Sans FB Demi" panose="020E0802020502020306" pitchFamily="34" charset="0"/>
                <a:ea typeface="Calibri" pitchFamily="34" charset="-122"/>
                <a:cs typeface="Calibri" pitchFamily="34" charset="-120"/>
              </a:rPr>
              <a:t>file_manager/  FileManager</a:t>
            </a:r>
            <a:endParaRPr lang="en-US" sz="1200" dirty="0">
              <a:latin typeface="Berlin Sans FB Demi" panose="020E0802020502020306" pitchFamily="34" charset="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Berlin Sans FB Demi" panose="020E0802020502020306" pitchFamily="34" charset="0"/>
                <a:ea typeface="Calibri" pitchFamily="34" charset="-122"/>
                <a:cs typeface="Calibri" pitchFamily="34" charset="-120"/>
              </a:rPr>
              <a:t>(JSON read / write)</a:t>
            </a:r>
            <a:endParaRPr lang="en-US" sz="1200" dirty="0">
              <a:latin typeface="Berlin Sans FB Demi" panose="020E0802020502020306" pitchFamily="34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3383280" y="3108960"/>
            <a:ext cx="2377440" cy="914400"/>
          </a:xfrm>
          <a:prstGeom prst="roundRect">
            <a:avLst>
              <a:gd name="adj" fmla="val 10000"/>
            </a:avLst>
          </a:prstGeom>
          <a:solidFill>
            <a:srgbClr val="2B3142"/>
          </a:solidFill>
          <a:ln w="12700">
            <a:solidFill>
              <a:srgbClr val="2B314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83280" y="31089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Berlin Sans FB Demi" panose="020E0802020502020306" pitchFamily="34" charset="0"/>
                <a:ea typeface="Calibri" pitchFamily="34" charset="-122"/>
                <a:cs typeface="Calibri" pitchFamily="34" charset="-120"/>
              </a:rPr>
              <a:t>exceptions.py  </a:t>
            </a:r>
          </a:p>
          <a:p>
            <a:pPr marL="0" indent="0" algn="ctr">
              <a:buNone/>
            </a:pPr>
            <a:r>
              <a:rPr lang="en-US" sz="1200" b="1" dirty="0" err="1">
                <a:solidFill>
                  <a:srgbClr val="FFFFFF"/>
                </a:solidFill>
                <a:latin typeface="Berlin Sans FB Demi" panose="020E0802020502020306" pitchFamily="34" charset="0"/>
                <a:ea typeface="Calibri" pitchFamily="34" charset="-122"/>
                <a:cs typeface="Calibri" pitchFamily="34" charset="-120"/>
              </a:rPr>
              <a:t>RestaurantError</a:t>
            </a:r>
            <a:r>
              <a:rPr lang="en-US" sz="1200" b="1" dirty="0">
                <a:solidFill>
                  <a:srgbClr val="FFFFFF"/>
                </a:solidFill>
                <a:latin typeface="Berlin Sans FB Demi" panose="020E0802020502020306" pitchFamily="34" charset="0"/>
                <a:ea typeface="Calibri" pitchFamily="34" charset="-122"/>
                <a:cs typeface="Calibri" pitchFamily="34" charset="-120"/>
              </a:rPr>
              <a:t> tree</a:t>
            </a:r>
            <a:endParaRPr lang="en-US" sz="1200" dirty="0">
              <a:latin typeface="Berlin Sans FB Demi" panose="020E0802020502020306" pitchFamily="34" charset="0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2834640" y="1920240"/>
            <a:ext cx="548640" cy="0"/>
          </a:xfrm>
          <a:prstGeom prst="line">
            <a:avLst/>
          </a:prstGeom>
          <a:noFill/>
          <a:ln w="19050">
            <a:solidFill>
              <a:srgbClr val="5B6270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5760720" y="1920240"/>
            <a:ext cx="548640" cy="0"/>
          </a:xfrm>
          <a:prstGeom prst="line">
            <a:avLst/>
          </a:prstGeom>
          <a:noFill/>
          <a:ln w="19050">
            <a:solidFill>
              <a:srgbClr val="5B627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7498080" y="2377440"/>
            <a:ext cx="0" cy="731520"/>
          </a:xfrm>
          <a:prstGeom prst="line">
            <a:avLst/>
          </a:prstGeom>
          <a:noFill/>
          <a:ln w="19050">
            <a:solidFill>
              <a:srgbClr val="5B62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457200" y="310896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270"/>
                </a:solidFill>
                <a:latin typeface="Baskerville Old Face" panose="02020602080505020303" pitchFamily="18" charset="0"/>
                <a:ea typeface="Calibri" pitchFamily="34" charset="-122"/>
                <a:cs typeface="Calibri" pitchFamily="34" charset="-120"/>
              </a:rPr>
              <a:t>The interface can change without touching the rules. JSON can be swapped for a database by replacing one class.</a:t>
            </a:r>
            <a:endParaRPr lang="en-US" sz="1300" dirty="0">
              <a:latin typeface="Baskerville Old Face" panose="02020602080505020303" pitchFamily="18" charset="0"/>
            </a:endParaRPr>
          </a:p>
        </p:txBody>
      </p:sp>
      <p:sp>
        <p:nvSpPr>
          <p:cNvPr id="19" name="Text 16"/>
          <p:cNvSpPr txBox="1"/>
          <p:nvPr/>
        </p:nvSpPr>
        <p:spPr>
          <a:xfrm>
            <a:off x="3383280" y="41605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270"/>
                </a:solidFill>
                <a:latin typeface="Baskerville Old Face" panose="02020602080505020303" pitchFamily="18" charset="0"/>
                <a:ea typeface="Calibri" pitchFamily="34" charset="-122"/>
                <a:cs typeface="Calibri" pitchFamily="34" charset="-120"/>
              </a:rPr>
              <a:t>Every layer raises and catches the same custom exceptions.</a:t>
            </a:r>
            <a:endParaRPr lang="en-US" sz="1200" dirty="0">
              <a:latin typeface="Baskerville Old Face" panose="02020602080505020303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DIAGRAM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classes and how they relate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1887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E4572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75488" y="1207008"/>
            <a:ext cx="8193024" cy="274320"/>
          </a:xfrm>
          <a:prstGeom prst="rec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12070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Restaurant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536192"/>
            <a:ext cx="8046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5B62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menu, tables, customers, orders: dict  |  payments: list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5B62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create_order()  checkout_order()  dashboard_stats()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57200" y="2194560"/>
            <a:ext cx="18288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7A819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75488" y="2212848"/>
            <a:ext cx="1810512" cy="292608"/>
          </a:xfrm>
          <a:prstGeom prst="rect">
            <a:avLst/>
          </a:prstGeom>
          <a:solidFill>
            <a:srgbClr val="7A8194"/>
          </a:solidFill>
          <a:ln w="12700">
            <a:solidFill>
              <a:srgbClr val="7A81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716512" y="2212848"/>
            <a:ext cx="13238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254203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5B62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table_id, capacity, status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5B62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occupy()  free()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57200" y="3154680"/>
            <a:ext cx="18288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7A819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75488" y="3172968"/>
            <a:ext cx="1810512" cy="256032"/>
          </a:xfrm>
          <a:prstGeom prst="rect">
            <a:avLst/>
          </a:prstGeom>
          <a:solidFill>
            <a:srgbClr val="7A8194"/>
          </a:solidFill>
          <a:ln w="12700">
            <a:solidFill>
              <a:srgbClr val="7A819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0504" y="3172968"/>
            <a:ext cx="15217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50215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5B62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customer_id, name, phone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5B62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matches()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57200" y="41148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7A819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75488" y="4133088"/>
            <a:ext cx="1810512" cy="274320"/>
          </a:xfrm>
          <a:prstGeom prst="rect">
            <a:avLst/>
          </a:prstGeom>
          <a:solidFill>
            <a:srgbClr val="7A8194"/>
          </a:solidFill>
          <a:ln w="12700">
            <a:solidFill>
              <a:srgbClr val="7A819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00504" y="4133088"/>
            <a:ext cx="15831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Payment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462272"/>
            <a:ext cx="1645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5B62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payment_id, order_id, amount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5B62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method, timestamp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2834640" y="2194560"/>
            <a:ext cx="20116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852928" y="2212848"/>
            <a:ext cx="1975104" cy="2743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834640" y="2212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2926080" y="2542032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5B62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order_id, table_id, status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5B62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items, discount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5B62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add_item()  checkout()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303520" y="219456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321808" y="2212848"/>
            <a:ext cx="1609344" cy="2743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303520" y="22128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OrderItem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394960" y="2542032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5B62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menu_item, quantity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5B62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subtotal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342496" y="2194560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358872" y="2212848"/>
            <a:ext cx="1343760" cy="2743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342496" y="22128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MenuItem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7433936" y="25420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5B62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name, category, __price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5B62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 (property)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2834640" y="3749040"/>
            <a:ext cx="20116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1B1F2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852928" y="3767328"/>
            <a:ext cx="1975104" cy="274320"/>
          </a:xfrm>
          <a:prstGeom prst="rect">
            <a:avLst/>
          </a:prstGeom>
          <a:solidFill>
            <a:srgbClr val="1B1F2A"/>
          </a:solidFill>
          <a:ln w="12700">
            <a:solidFill>
              <a:srgbClr val="1B1F2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834640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Discount (ABC)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2926080" y="40965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5B62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apply()  describe()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303520" y="3749040"/>
            <a:ext cx="10515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1B1F2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321808" y="3767328"/>
            <a:ext cx="1014984" cy="274320"/>
          </a:xfrm>
          <a:prstGeom prst="rect">
            <a:avLst/>
          </a:prstGeom>
          <a:solidFill>
            <a:srgbClr val="1B1F2A"/>
          </a:solidFill>
          <a:ln w="12700">
            <a:solidFill>
              <a:srgbClr val="1B1F2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303520" y="3767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NoDiscount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5394960" y="409651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6464808" y="3749040"/>
            <a:ext cx="10515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1B1F2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483096" y="3767328"/>
            <a:ext cx="1014984" cy="274320"/>
          </a:xfrm>
          <a:prstGeom prst="rect">
            <a:avLst/>
          </a:prstGeom>
          <a:solidFill>
            <a:srgbClr val="1B1F2A"/>
          </a:solidFill>
          <a:ln w="12700">
            <a:solidFill>
              <a:srgbClr val="1B1F2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64808" y="3767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Percentage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Discount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6556248" y="409651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7626096" y="3749040"/>
            <a:ext cx="10515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1B1F2A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651208" y="3767328"/>
            <a:ext cx="1014984" cy="274320"/>
          </a:xfrm>
          <a:prstGeom prst="rect">
            <a:avLst/>
          </a:prstGeom>
          <a:solidFill>
            <a:srgbClr val="1B1F2A"/>
          </a:solidFill>
          <a:ln w="12700">
            <a:solidFill>
              <a:srgbClr val="1B1F2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626096" y="3767328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FixedAmount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Discount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7717536" y="409651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4846320" y="2743200"/>
            <a:ext cx="457200" cy="0"/>
          </a:xfrm>
          <a:prstGeom prst="line">
            <a:avLst/>
          </a:prstGeom>
          <a:noFill/>
          <a:ln w="19050">
            <a:solidFill>
              <a:srgbClr val="5B6270"/>
            </a:solidFill>
            <a:prstDash val="solid"/>
            <a:tailEnd type="triangle"/>
          </a:ln>
        </p:spPr>
      </p:sp>
      <p:sp>
        <p:nvSpPr>
          <p:cNvPr id="50" name="Shape 47"/>
          <p:cNvSpPr/>
          <p:nvPr/>
        </p:nvSpPr>
        <p:spPr>
          <a:xfrm>
            <a:off x="6949440" y="2651760"/>
            <a:ext cx="409432" cy="2184"/>
          </a:xfrm>
          <a:prstGeom prst="line">
            <a:avLst/>
          </a:prstGeom>
          <a:noFill/>
          <a:ln w="19050">
            <a:solidFill>
              <a:srgbClr val="5B6270"/>
            </a:solidFill>
            <a:prstDash val="solid"/>
            <a:tailEnd type="triangle"/>
          </a:ln>
        </p:spPr>
      </p:sp>
      <p:sp>
        <p:nvSpPr>
          <p:cNvPr id="51" name="Shape 48"/>
          <p:cNvSpPr/>
          <p:nvPr/>
        </p:nvSpPr>
        <p:spPr>
          <a:xfrm>
            <a:off x="3840480" y="3291840"/>
            <a:ext cx="0" cy="457200"/>
          </a:xfrm>
          <a:prstGeom prst="line">
            <a:avLst/>
          </a:prstGeom>
          <a:noFill/>
          <a:ln w="19050">
            <a:solidFill>
              <a:srgbClr val="5B6270"/>
            </a:solidFill>
            <a:prstDash val="solid"/>
            <a:tailEnd type="triangle"/>
          </a:ln>
        </p:spPr>
      </p:sp>
      <p:sp>
        <p:nvSpPr>
          <p:cNvPr id="52" name="Shape 49"/>
          <p:cNvSpPr/>
          <p:nvPr/>
        </p:nvSpPr>
        <p:spPr>
          <a:xfrm>
            <a:off x="4846320" y="4069080"/>
            <a:ext cx="457200" cy="0"/>
          </a:xfrm>
          <a:prstGeom prst="line">
            <a:avLst/>
          </a:prstGeom>
          <a:noFill/>
          <a:ln w="19050">
            <a:solidFill>
              <a:srgbClr val="5B6270"/>
            </a:solidFill>
            <a:prstDash val="solid"/>
            <a:tailEnd type="triangle"/>
          </a:ln>
        </p:spPr>
      </p:sp>
      <p:sp>
        <p:nvSpPr>
          <p:cNvPr id="53" name="Text 50"/>
          <p:cNvSpPr txBox="1"/>
          <p:nvPr/>
        </p:nvSpPr>
        <p:spPr>
          <a:xfrm>
            <a:off x="4880440" y="250764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many</a:t>
            </a:r>
            <a:endParaRPr lang="en-US" sz="800" dirty="0"/>
          </a:p>
        </p:txBody>
      </p:sp>
      <p:sp>
        <p:nvSpPr>
          <p:cNvPr id="54" name="Text 51"/>
          <p:cNvSpPr txBox="1"/>
          <p:nvPr/>
        </p:nvSpPr>
        <p:spPr>
          <a:xfrm>
            <a:off x="6971960" y="24162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refers to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3899848" y="34290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one</a:t>
            </a:r>
            <a:endParaRPr lang="en-US" sz="800" dirty="0"/>
          </a:p>
        </p:txBody>
      </p:sp>
      <p:sp>
        <p:nvSpPr>
          <p:cNvPr id="56" name="Text 53"/>
          <p:cNvSpPr txBox="1"/>
          <p:nvPr/>
        </p:nvSpPr>
        <p:spPr>
          <a:xfrm>
            <a:off x="4892040" y="443484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subclasses</a:t>
            </a:r>
            <a:endParaRPr lang="en-US" sz="800" dirty="0"/>
          </a:p>
        </p:txBody>
      </p:sp>
      <p:sp>
        <p:nvSpPr>
          <p:cNvPr id="57" name="Text 54"/>
          <p:cNvSpPr txBox="1"/>
          <p:nvPr/>
        </p:nvSpPr>
        <p:spPr>
          <a:xfrm>
            <a:off x="2882408" y="4653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5B6270"/>
                </a:solidFill>
                <a:latin typeface="Bodoni MT" panose="02070603080606020203" pitchFamily="18" charset="0"/>
                <a:ea typeface="Calibri" pitchFamily="34" charset="-122"/>
                <a:cs typeface="Calibri" pitchFamily="34" charset="-120"/>
              </a:rPr>
              <a:t>Table, Customer and Payment are linked to orders by id.</a:t>
            </a:r>
            <a:endParaRPr lang="en-US" sz="900" dirty="0">
              <a:latin typeface="Bodoni MT" panose="02070603080606020203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CONSTRUCTORS AND TYPE HINTS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__init__ builds valid objects only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4937760" cy="3383280"/>
          </a:xfrm>
          <a:prstGeom prst="roundRect">
            <a:avLst>
              <a:gd name="adj" fmla="val 3243"/>
            </a:avLst>
          </a:prstGeom>
          <a:solidFill>
            <a:srgbClr val="1B1F2A"/>
          </a:solidFill>
          <a:ln w="12700">
            <a:solidFill>
              <a:srgbClr val="1B1F2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41732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Table: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__init__(self, table_id: int,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capacity: int,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status: str = AVAILABLE) -&gt; None: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capacity &lt;= 0: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raise ValidationError(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"Table capacity must be &gt; 0.")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self.table_id: int = table_id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self.capacity: int = capacity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self.status: str = status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0" y="1280160"/>
            <a:ext cx="301752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DE0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806440" y="13601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inside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806440" y="1652744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Table, Payment, OrderItem and the Discount classes reject bad input in __init__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0" y="2441448"/>
            <a:ext cx="301752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DE0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806440" y="25214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values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806440" y="281403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defaults to Available; Order sets created_at to now and discount to NoDiscount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69280" y="3602736"/>
            <a:ext cx="301752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DE0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806440" y="36895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hints everywhere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806440" y="39753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parameter, return value and attribute is annotated, for example -&gt; None and Dict[str, Any]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MenuItem protects its own price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5120640" cy="3383280"/>
          </a:xfrm>
          <a:prstGeom prst="roundRect">
            <a:avLst>
              <a:gd name="adj" fmla="val 3243"/>
            </a:avLst>
          </a:prstGeom>
          <a:solidFill>
            <a:srgbClr val="1B1F2A"/>
          </a:solidFill>
          <a:ln w="12700">
            <a:solidFill>
              <a:srgbClr val="1B1F2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4173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MenuItem: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__init__(self, item_id, name,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category, price, available=True):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self.__price = 0.0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self.price = price   # uses the setter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@property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price(self): return self.__price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@price.setter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price(self, value):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value &lt;= 0: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raise ValidationError("Price &gt; 0")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self.__price = round(float(value), 2)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852160" y="1280160"/>
            <a:ext cx="283464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DE0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89320" y="1366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attribute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989320" y="165956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__price is name-mangled and hidden from outside code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852160" y="2441448"/>
            <a:ext cx="283464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DE0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989320" y="25282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getter / setter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989320" y="2820856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item.price reads like a field but runs validation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852160" y="3602736"/>
            <a:ext cx="283464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DE0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89320" y="3696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at the source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989320" y="3982144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constructor and updates both go through the setter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ABSTRACTION AND INHERITANCE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Discount: an abstract base class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4754880" cy="2377440"/>
          </a:xfrm>
          <a:prstGeom prst="roundRect">
            <a:avLst>
              <a:gd name="adj" fmla="val 4615"/>
            </a:avLst>
          </a:prstGeom>
          <a:solidFill>
            <a:srgbClr val="1B1F2A"/>
          </a:solidFill>
          <a:ln w="12700">
            <a:solidFill>
              <a:srgbClr val="1B1F2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417320"/>
            <a:ext cx="4389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Discount(ABC):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@abstractmethod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apply(self, total: float) -&gt; float: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"""Total after the discount."""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@abstractmethod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describe(self) -&gt; str: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"""Short readable description."""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760720" y="1280160"/>
            <a:ext cx="2926080" cy="548640"/>
          </a:xfrm>
          <a:prstGeom prst="roundRect">
            <a:avLst>
              <a:gd name="adj" fmla="val 16667"/>
            </a:avLst>
          </a:prstGeom>
          <a:solidFill>
            <a:srgbClr val="1B1F2A"/>
          </a:solidFill>
          <a:ln w="12700">
            <a:solidFill>
              <a:srgbClr val="1B1F2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760720" y="12801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Discount  (ABC)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223760" y="1828800"/>
            <a:ext cx="0" cy="411480"/>
          </a:xfrm>
          <a:prstGeom prst="line">
            <a:avLst/>
          </a:prstGeom>
          <a:noFill/>
          <a:ln w="19050">
            <a:solidFill>
              <a:srgbClr val="5B62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7223760" y="1828800"/>
            <a:ext cx="0" cy="1097280"/>
          </a:xfrm>
          <a:prstGeom prst="line">
            <a:avLst/>
          </a:prstGeom>
          <a:noFill/>
          <a:ln w="19050">
            <a:solidFill>
              <a:srgbClr val="5B627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5760720" y="3611880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36118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FixedAmountDiscount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223760" y="1828800"/>
            <a:ext cx="0" cy="1783080"/>
          </a:xfrm>
          <a:prstGeom prst="line">
            <a:avLst/>
          </a:prstGeom>
          <a:noFill/>
          <a:ln w="19050">
            <a:solidFill>
              <a:srgbClr val="5B6270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5760720" y="2240280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7A8194"/>
          </a:solidFill>
          <a:ln w="12700">
            <a:solidFill>
              <a:srgbClr val="7A819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760720" y="2926080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7200" y="427721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270"/>
                </a:solidFill>
                <a:latin typeface="Bodoni MT" panose="02070603080606020203" pitchFamily="18" charset="0"/>
                <a:ea typeface="Calibri" pitchFamily="34" charset="-122"/>
                <a:cs typeface="Calibri" pitchFamily="34" charset="-120"/>
              </a:rPr>
              <a:t>Each subclass supplies its own apply() and describe(). Constructors validate their own input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5B6270"/>
                </a:solidFill>
                <a:latin typeface="Bodoni MT" panose="02070603080606020203" pitchFamily="18" charset="0"/>
                <a:ea typeface="Calibri" pitchFamily="34" charset="-122"/>
                <a:cs typeface="Calibri" pitchFamily="34" charset="-120"/>
              </a:rPr>
              <a:t>(percent 0-100, amount &gt; 0).</a:t>
            </a:r>
            <a:endParaRPr lang="en-US" sz="1400" dirty="0">
              <a:latin typeface="Bodoni MT" panose="02070603080606020203" pitchFamily="18" charset="0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5760716" y="2240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NoDiscount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760716" y="2926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PercentageDiscount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POLYMORPHISM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call, three behaviours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4572000" cy="2103120"/>
          </a:xfrm>
          <a:prstGeom prst="roundRect">
            <a:avLst>
              <a:gd name="adj" fmla="val 5217"/>
            </a:avLst>
          </a:prstGeom>
          <a:solidFill>
            <a:srgbClr val="1B1F2A"/>
          </a:solidFill>
          <a:ln w="12700">
            <a:solidFill>
              <a:srgbClr val="1B1F2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417320"/>
            <a:ext cx="4206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calculate_total(self) -&gt; float: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round(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self.discount.apply(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self.calculate_subtotal()), 2)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default: no if/else needed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self.discount = discount or NoDiscount()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303520" y="1280160"/>
            <a:ext cx="338328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DE0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40680" y="1280160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NoDiscount()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356144" y="1280160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A81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100.00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303520" y="2029968"/>
            <a:ext cx="338328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DE0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40680" y="202996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PercentageDiscount(10)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356144" y="2029968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90.00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303520" y="2779776"/>
            <a:ext cx="338328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DE0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40680" y="2779776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FixedAmountDiscount(15)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356144" y="2779776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85.00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5310344" y="35252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270"/>
                </a:solidFill>
                <a:latin typeface="Bodoni MT" panose="02070603080606020203" pitchFamily="18" charset="0"/>
                <a:ea typeface="Calibri" pitchFamily="34" charset="-122"/>
                <a:cs typeface="Calibri" pitchFamily="34" charset="-120"/>
              </a:rPr>
              <a:t>Subtotal = 100.00 in all three rows</a:t>
            </a:r>
            <a:endParaRPr lang="en-US" sz="1100" dirty="0">
              <a:latin typeface="Bodoni MT" panose="02070603080606020203" pitchFamily="18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457200" y="3749040"/>
            <a:ext cx="822960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DE0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8404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1F2A"/>
                </a:solidFill>
                <a:latin typeface="Bodoni MT" panose="02070603080606020203" pitchFamily="18" charset="0"/>
                <a:ea typeface="Calibri" pitchFamily="34" charset="-122"/>
                <a:cs typeface="Calibri" pitchFamily="34" charset="-120"/>
              </a:rPr>
              <a:t>Adding a new discount type (for example buy-one-get-one) means writing one new subclass. Order, Restaurant and the tests stay unchanged.</a:t>
            </a:r>
            <a:endParaRPr lang="en-US" sz="1400" dirty="0">
              <a:latin typeface="Bodoni MT" panose="02070603080606020203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INHERITANCE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custom exception hierarchy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2743200" y="1234440"/>
            <a:ext cx="3657600" cy="548640"/>
          </a:xfrm>
          <a:prstGeom prst="roundRect">
            <a:avLst>
              <a:gd name="adj" fmla="val 16667"/>
            </a:avLst>
          </a:prstGeom>
          <a:solidFill>
            <a:srgbClr val="1B1F2A"/>
          </a:solidFill>
          <a:ln w="12700">
            <a:solidFill>
              <a:srgbClr val="1B1F2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743200" y="1234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RestaurantError  (Exception)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057400"/>
            <a:ext cx="2606040" cy="411480"/>
          </a:xfrm>
          <a:prstGeom prst="roundRect">
            <a:avLst>
              <a:gd name="adj" fmla="val 22222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20574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ValidationError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00400" y="2057400"/>
            <a:ext cx="2606040" cy="411480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00400" y="20574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TableNotFoundError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2560320"/>
            <a:ext cx="2606040" cy="411480"/>
          </a:xfrm>
          <a:prstGeom prst="roundRect">
            <a:avLst>
              <a:gd name="adj" fmla="val 22222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5603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TableOccupiedError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200400" y="2560320"/>
            <a:ext cx="2606040" cy="411480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00400" y="25603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MenuItemNotFoundError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3063240"/>
            <a:ext cx="2606040" cy="411480"/>
          </a:xfrm>
          <a:prstGeom prst="roundRect">
            <a:avLst>
              <a:gd name="adj" fmla="val 22222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306324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MenuItemUnavailableError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200400" y="3063240"/>
            <a:ext cx="2606040" cy="411480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200400" y="306324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InvalidQuantityError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3566160"/>
            <a:ext cx="2606040" cy="411480"/>
          </a:xfrm>
          <a:prstGeom prst="roundRect">
            <a:avLst>
              <a:gd name="adj" fmla="val 22222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7200" y="356616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EmptyOrderError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200400" y="3566160"/>
            <a:ext cx="2606040" cy="411480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200400" y="356616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OrderNotFoundError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4069080"/>
            <a:ext cx="2606040" cy="411480"/>
          </a:xfrm>
          <a:prstGeom prst="roundRect">
            <a:avLst>
              <a:gd name="adj" fmla="val 22222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7200" y="40690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CustomerNotFoundError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200400" y="4069080"/>
            <a:ext cx="2606040" cy="411480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200400" y="40690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InvalidPaymentError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126480" y="2057400"/>
            <a:ext cx="256032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9525">
            <a:solidFill>
              <a:srgbClr val="DDE0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263640" y="21897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6263640" y="2509824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270"/>
                </a:solidFill>
                <a:latin typeface="Bodoni MT" panose="02070603080606020203" pitchFamily="18" charset="0"/>
                <a:ea typeface="Calibri" pitchFamily="34" charset="-122"/>
                <a:cs typeface="Calibri" pitchFamily="34" charset="-120"/>
              </a:rPr>
              <a:t>Each rule has a named error, such as TableOccupiedError or EmptyOrderError.</a:t>
            </a:r>
            <a:endParaRPr lang="en-US" sz="1200" dirty="0">
              <a:latin typeface="Bodoni MT" panose="02070603080606020203" pitchFamily="18" charset="0"/>
            </a:endParaRPr>
          </a:p>
          <a:p>
            <a:pPr marL="0" indent="0">
              <a:buNone/>
            </a:pPr>
            <a:endParaRPr lang="en-US" sz="1200" dirty="0">
              <a:latin typeface="Bodoni MT" panose="02070603080606020203" pitchFamily="18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5B6270"/>
                </a:solidFill>
                <a:latin typeface="Bodoni MT" panose="02070603080606020203" pitchFamily="18" charset="0"/>
                <a:ea typeface="Calibri" pitchFamily="34" charset="-122"/>
                <a:cs typeface="Calibri" pitchFamily="34" charset="-120"/>
              </a:rPr>
              <a:t>One except RestaurantError block catches all of them.</a:t>
            </a:r>
            <a:endParaRPr lang="en-US" sz="1200" dirty="0">
              <a:latin typeface="Bodoni MT" panose="02070603080606020203" pitchFamily="18" charset="0"/>
            </a:endParaRPr>
          </a:p>
          <a:p>
            <a:pPr marL="0" indent="0">
              <a:buNone/>
            </a:pPr>
            <a:endParaRPr lang="en-US" sz="1200" dirty="0">
              <a:latin typeface="Bodoni MT" panose="02070603080606020203" pitchFamily="18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5B6270"/>
                </a:solidFill>
                <a:latin typeface="Bodoni MT" panose="02070603080606020203" pitchFamily="18" charset="0"/>
                <a:ea typeface="Calibri" pitchFamily="34" charset="-122"/>
                <a:cs typeface="Calibri" pitchFamily="34" charset="-120"/>
              </a:rPr>
              <a:t>The GUI shows str(error) to the user.</a:t>
            </a:r>
            <a:endParaRPr lang="en-US" sz="1200" dirty="0">
              <a:latin typeface="Bodoni MT" panose="02070603080606020203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AND ASSOCIATION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objects fit together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1737360" cy="731520"/>
          </a:xfrm>
          <a:prstGeom prst="roundRect">
            <a:avLst>
              <a:gd name="adj" fmla="val 12500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13716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Restaurant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194560" y="1737360"/>
            <a:ext cx="457200" cy="0"/>
          </a:xfrm>
          <a:prstGeom prst="line">
            <a:avLst/>
          </a:prstGeom>
          <a:noFill/>
          <a:ln w="19050">
            <a:solidFill>
              <a:srgbClr val="5B6270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2651760" y="1371600"/>
            <a:ext cx="1737360" cy="731520"/>
          </a:xfrm>
          <a:prstGeom prst="roundRect">
            <a:avLst>
              <a:gd name="adj" fmla="val 1250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651760" y="13716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389120" y="1737360"/>
            <a:ext cx="457200" cy="0"/>
          </a:xfrm>
          <a:prstGeom prst="line">
            <a:avLst/>
          </a:prstGeom>
          <a:noFill/>
          <a:ln w="19050">
            <a:solidFill>
              <a:srgbClr val="5B62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4846320" y="1371600"/>
            <a:ext cx="1737360" cy="731520"/>
          </a:xfrm>
          <a:prstGeom prst="roundRect">
            <a:avLst>
              <a:gd name="adj" fmla="val 12500"/>
            </a:avLst>
          </a:prstGeom>
          <a:solidFill>
            <a:srgbClr val="7A8194"/>
          </a:solidFill>
          <a:ln w="12700">
            <a:solidFill>
              <a:srgbClr val="7A819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13716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OrderItem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583680" y="1737360"/>
            <a:ext cx="457200" cy="0"/>
          </a:xfrm>
          <a:prstGeom prst="line">
            <a:avLst/>
          </a:prstGeom>
          <a:noFill/>
          <a:ln w="19050">
            <a:solidFill>
              <a:srgbClr val="5B62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7040880" y="1371600"/>
            <a:ext cx="1737360" cy="731520"/>
          </a:xfrm>
          <a:prstGeom prst="roundRect">
            <a:avLst>
              <a:gd name="adj" fmla="val 12500"/>
            </a:avLst>
          </a:prstGeom>
          <a:solidFill>
            <a:srgbClr val="1B1F2A"/>
          </a:solidFill>
          <a:ln w="12700">
            <a:solidFill>
              <a:srgbClr val="1B1F2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040880" y="13716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MenuItem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2194560" y="1325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many</a:t>
            </a:r>
            <a:endParaRPr lang="en-US" sz="100" dirty="0"/>
          </a:p>
        </p:txBody>
      </p:sp>
      <p:sp>
        <p:nvSpPr>
          <p:cNvPr id="17" name="Text 14"/>
          <p:cNvSpPr txBox="1"/>
          <p:nvPr/>
        </p:nvSpPr>
        <p:spPr>
          <a:xfrm>
            <a:off x="4389120" y="1325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many</a:t>
            </a:r>
            <a:endParaRPr lang="en-US" sz="100" dirty="0"/>
          </a:p>
        </p:txBody>
      </p:sp>
      <p:sp>
        <p:nvSpPr>
          <p:cNvPr id="18" name="Text 15"/>
          <p:cNvSpPr txBox="1"/>
          <p:nvPr/>
        </p:nvSpPr>
        <p:spPr>
          <a:xfrm>
            <a:off x="6583680" y="1325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refers to</a:t>
            </a:r>
            <a:endParaRPr lang="en-US" sz="100" dirty="0"/>
          </a:p>
        </p:txBody>
      </p:sp>
      <p:sp>
        <p:nvSpPr>
          <p:cNvPr id="19" name="Shape 16"/>
          <p:cNvSpPr/>
          <p:nvPr/>
        </p:nvSpPr>
        <p:spPr>
          <a:xfrm>
            <a:off x="4480560" y="2743200"/>
            <a:ext cx="1737360" cy="640080"/>
          </a:xfrm>
          <a:prstGeom prst="roundRect">
            <a:avLst>
              <a:gd name="adj" fmla="val 14286"/>
            </a:avLst>
          </a:prstGeom>
          <a:solidFill>
            <a:srgbClr val="7A8194"/>
          </a:solidFill>
          <a:ln w="12700">
            <a:solidFill>
              <a:srgbClr val="7A819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480560" y="27432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Discount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349240" y="2103120"/>
            <a:ext cx="0" cy="640080"/>
          </a:xfrm>
          <a:prstGeom prst="line">
            <a:avLst/>
          </a:prstGeom>
          <a:noFill/>
          <a:ln w="19050">
            <a:solidFill>
              <a:srgbClr val="5B6270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457200" y="3611880"/>
            <a:ext cx="26517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0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94360" y="37031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" y="3977504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270"/>
                </a:solidFill>
                <a:latin typeface="Baskerville Old Face" panose="02020602080505020303" pitchFamily="18" charset="0"/>
                <a:ea typeface="Calibri" pitchFamily="34" charset="-122"/>
                <a:cs typeface="Calibri" pitchFamily="34" charset="-120"/>
              </a:rPr>
              <a:t>Restaurant holds dicts of MenuItem, Table, Customer and Order objects. Order holds a list of OrderItem.</a:t>
            </a:r>
            <a:endParaRPr lang="en-US" sz="1100" dirty="0">
              <a:latin typeface="Baskerville Old Face" panose="02020602080505020303" pitchFamily="18" charset="0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3246120" y="3611880"/>
            <a:ext cx="26517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0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383280" y="37031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Aggregation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3383280" y="3977504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270"/>
                </a:solidFill>
                <a:latin typeface="Baskerville Old Face" panose="02020602080505020303" pitchFamily="18" charset="0"/>
                <a:ea typeface="Calibri" pitchFamily="34" charset="-122"/>
                <a:cs typeface="Calibri" pitchFamily="34" charset="-120"/>
              </a:rPr>
              <a:t>OrderItem keeps a reference to a shared MenuItem. Order holds a Discount.</a:t>
            </a:r>
            <a:endParaRPr lang="en-US" sz="1100" dirty="0">
              <a:latin typeface="Baskerville Old Face" panose="02020602080505020303" pitchFamily="18" charset="0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6035040" y="3611880"/>
            <a:ext cx="26517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0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172200" y="37031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Association by id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6172200" y="3977504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270"/>
                </a:solidFill>
                <a:latin typeface="Baskerville Old Face" panose="02020602080505020303" pitchFamily="18" charset="0"/>
                <a:ea typeface="Calibri" pitchFamily="34" charset="-122"/>
                <a:cs typeface="Calibri" pitchFamily="34" charset="-120"/>
              </a:rPr>
              <a:t>Order stores table_id and customer_id, and Restaurant looks them up.</a:t>
            </a:r>
            <a:endParaRPr lang="en-US" sz="1100" dirty="0">
              <a:latin typeface="Baskerville Old Face" panose="02020602080505020303" pitchFamily="18" charset="0"/>
            </a:endParaRPr>
          </a:p>
        </p:txBody>
      </p:sp>
      <p:sp>
        <p:nvSpPr>
          <p:cNvPr id="31" name="Text 28"/>
          <p:cNvSpPr txBox="1"/>
          <p:nvPr/>
        </p:nvSpPr>
        <p:spPr>
          <a:xfrm>
            <a:off x="457200" y="2331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RESPONSIBILITY AND DELEGATION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Restaurant coordinates, objects do the work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5120640" cy="3383280"/>
          </a:xfrm>
          <a:prstGeom prst="roundRect">
            <a:avLst>
              <a:gd name="adj" fmla="val 3243"/>
            </a:avLst>
          </a:prstGeom>
          <a:solidFill>
            <a:srgbClr val="1B1F2A"/>
          </a:solidFill>
          <a:ln w="12700">
            <a:solidFill>
              <a:srgbClr val="1B1F2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4173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checkout_order(self, order_id,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method="Cash"):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order = self.get_order(order_id)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= order.checkout()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payment = Payment(self._next_payment_id,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order_id, total, method)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self.payments.append(payment)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self._next_payment_id += 1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self.get_table(order.table_id).free()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payment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852160" y="1280160"/>
            <a:ext cx="2834640" cy="457200"/>
          </a:xfrm>
          <a:prstGeom prst="roundRect">
            <a:avLst>
              <a:gd name="adj" fmla="val 20000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852160" y="1280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Order.checkout()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872632" y="181051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270"/>
                </a:solidFill>
                <a:latin typeface="Berlin Sans FB Demi" panose="020E0802020502020306" pitchFamily="34" charset="0"/>
                <a:ea typeface="Calibri" pitchFamily="34" charset="-122"/>
                <a:cs typeface="Calibri" pitchFamily="34" charset="-120"/>
              </a:rPr>
              <a:t>validates not empty, sets status to Paid</a:t>
            </a:r>
            <a:endParaRPr lang="en-US" sz="1200" dirty="0">
              <a:latin typeface="Berlin Sans FB Demi" panose="020E0802020502020306" pitchFamily="34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7269480" y="2331720"/>
            <a:ext cx="0" cy="91440"/>
          </a:xfrm>
          <a:prstGeom prst="line">
            <a:avLst/>
          </a:prstGeom>
          <a:noFill/>
          <a:ln w="19050">
            <a:solidFill>
              <a:srgbClr val="5B62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5852160" y="2423160"/>
            <a:ext cx="2834640" cy="457200"/>
          </a:xfrm>
          <a:prstGeom prst="roundRect">
            <a:avLst>
              <a:gd name="adj" fmla="val 2000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852160" y="2423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Payment(...)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872632" y="295351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270"/>
                </a:solidFill>
                <a:latin typeface="Berlin Sans FB Demi" panose="020E0802020502020306" pitchFamily="34" charset="0"/>
                <a:ea typeface="Calibri" pitchFamily="34" charset="-122"/>
                <a:cs typeface="Calibri" pitchFamily="34" charset="-120"/>
              </a:rPr>
              <a:t>validates amount &gt; 0, stamps the time</a:t>
            </a:r>
            <a:endParaRPr lang="en-US" sz="1200" dirty="0">
              <a:latin typeface="Berlin Sans FB Demi" panose="020E0802020502020306" pitchFamily="34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7269480" y="3474720"/>
            <a:ext cx="0" cy="91440"/>
          </a:xfrm>
          <a:prstGeom prst="line">
            <a:avLst/>
          </a:prstGeom>
          <a:noFill/>
          <a:ln w="19050">
            <a:solidFill>
              <a:srgbClr val="5B627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5852160" y="3566160"/>
            <a:ext cx="2834640" cy="457200"/>
          </a:xfrm>
          <a:prstGeom prst="roundRect">
            <a:avLst>
              <a:gd name="adj" fmla="val 20000"/>
            </a:avLst>
          </a:prstGeom>
          <a:solidFill>
            <a:srgbClr val="7A8194"/>
          </a:solidFill>
          <a:ln w="12700">
            <a:solidFill>
              <a:srgbClr val="7A819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852160" y="3566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Table.free()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872632" y="409651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270"/>
                </a:solidFill>
                <a:latin typeface="Berlin Sans FB Demi" panose="020E0802020502020306" pitchFamily="34" charset="0"/>
                <a:ea typeface="Calibri" pitchFamily="34" charset="-122"/>
                <a:cs typeface="Calibri" pitchFamily="34" charset="-120"/>
              </a:rPr>
              <a:t>status goes back to Available</a:t>
            </a:r>
            <a:endParaRPr lang="en-US" sz="1200" dirty="0">
              <a:latin typeface="Berlin Sans FB Demi" panose="020E0802020502020306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RULES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rules the objects enforce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DE0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1371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Occupied table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6420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2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Table.occupy()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94360" y="2011680"/>
            <a:ext cx="2377440" cy="1143000"/>
          </a:xfrm>
          <a:prstGeom prst="roundRect">
            <a:avLst>
              <a:gd name="adj" fmla="val 9600"/>
            </a:avLst>
          </a:prstGeom>
          <a:solidFill>
            <a:srgbClr val="1B1F2A"/>
          </a:solidFill>
          <a:ln w="12700">
            <a:solidFill>
              <a:srgbClr val="1B1F2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14884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self.status == OCCUPIED: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raise TableOccupiedError(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"Table is already occupied.")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94360" y="3337560"/>
            <a:ext cx="2377440" cy="457200"/>
          </a:xfrm>
          <a:prstGeom prst="roundRect">
            <a:avLst>
              <a:gd name="adj" fmla="val 20000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9436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TableOccupiedError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46120" y="128016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DE0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83280" y="1371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Quantity above zero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383280" y="166420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2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OrderItem.__init__()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383280" y="2011680"/>
            <a:ext cx="2377440" cy="1143000"/>
          </a:xfrm>
          <a:prstGeom prst="roundRect">
            <a:avLst>
              <a:gd name="adj" fmla="val 9600"/>
            </a:avLst>
          </a:prstGeom>
          <a:solidFill>
            <a:srgbClr val="1B1F2A"/>
          </a:solidFill>
          <a:ln w="12700">
            <a:solidFill>
              <a:srgbClr val="1B1F2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566160" y="214884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quantity &lt;= 0: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raise InvalidQuantityError(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"Quantity must be &gt; 0.")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383280" y="3337560"/>
            <a:ext cx="2377440" cy="457200"/>
          </a:xfrm>
          <a:prstGeom prst="roundRect">
            <a:avLst>
              <a:gd name="adj" fmla="val 20000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8328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InvalidQuantityError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035040" y="128016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DE0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172200" y="1371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empty checkout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172200" y="166420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2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Order.checkout()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172200" y="2011680"/>
            <a:ext cx="2377440" cy="1143000"/>
          </a:xfrm>
          <a:prstGeom prst="roundRect">
            <a:avLst>
              <a:gd name="adj" fmla="val 9600"/>
            </a:avLst>
          </a:prstGeom>
          <a:solidFill>
            <a:srgbClr val="1B1F2A"/>
          </a:solidFill>
          <a:ln w="12700">
            <a:solidFill>
              <a:srgbClr val="1B1F2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55080" y="214884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self.is_empty: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raise EmptyOrderError(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"Order has no items.")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6172200" y="3337560"/>
            <a:ext cx="2377440" cy="457200"/>
          </a:xfrm>
          <a:prstGeom prst="roundRect">
            <a:avLst>
              <a:gd name="adj" fmla="val 20000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17220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EmptyOrderError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57200" y="4206240"/>
            <a:ext cx="822960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9525">
            <a:solidFill>
              <a:srgbClr val="DDE0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0080" y="42062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F2A"/>
                </a:solidFill>
                <a:latin typeface="Bodoni MT" panose="02070603080606020203" pitchFamily="18" charset="0"/>
                <a:ea typeface="Calibri" pitchFamily="34" charset="-122"/>
                <a:cs typeface="Calibri" pitchFamily="34" charset="-120"/>
              </a:rPr>
              <a:t>The order total is never typed in: calculate_total() always computes it from the items and the discount.</a:t>
            </a:r>
            <a:endParaRPr lang="en-US" sz="1300" dirty="0">
              <a:latin typeface="Bodoni MT" panose="02070603080606020203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Objects to JSON and back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4754880" cy="2743200"/>
          </a:xfrm>
          <a:prstGeom prst="roundRect">
            <a:avLst>
              <a:gd name="adj" fmla="val 4000"/>
            </a:avLst>
          </a:prstGeom>
          <a:solidFill>
            <a:srgbClr val="1B1F2A"/>
          </a:solidFill>
          <a:ln w="12700">
            <a:solidFill>
              <a:srgbClr val="1B1F2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417320"/>
            <a:ext cx="4389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@classmethod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from_dict(cls, data):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cls(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customer_id=data["customer_id"],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name=data["name"],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phone=data.get("phone", ""))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Order.to_dict stores the discount type: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{"type": self.discount.__class__.__name__}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577840" y="1280160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577840" y="12801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Restaurant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132320" y="1783080"/>
            <a:ext cx="0" cy="274320"/>
          </a:xfrm>
          <a:prstGeom prst="line">
            <a:avLst/>
          </a:prstGeom>
          <a:noFill/>
          <a:ln w="19050">
            <a:solidFill>
              <a:srgbClr val="5B6270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5577840" y="2057400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77840" y="20574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RestaurantService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132320" y="2560320"/>
            <a:ext cx="0" cy="274320"/>
          </a:xfrm>
          <a:prstGeom prst="line">
            <a:avLst/>
          </a:prstGeom>
          <a:noFill/>
          <a:ln w="19050">
            <a:solidFill>
              <a:srgbClr val="5B627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5577840" y="2834640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1B1F2A"/>
          </a:solidFill>
          <a:ln w="12700">
            <a:solidFill>
              <a:srgbClr val="1B1F2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577840" y="28346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FileManager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132320" y="3337560"/>
            <a:ext cx="0" cy="274320"/>
          </a:xfrm>
          <a:prstGeom prst="line">
            <a:avLst/>
          </a:prstGeom>
          <a:noFill/>
          <a:ln w="19050">
            <a:solidFill>
              <a:srgbClr val="5B6270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5577840" y="3611880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7A8194"/>
          </a:solidFill>
          <a:ln w="12700">
            <a:solidFill>
              <a:srgbClr val="7A819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577840" y="36118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restaurant_data.json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4160520"/>
            <a:ext cx="82296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DE0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0080" y="41605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F2A"/>
                </a:solidFill>
                <a:latin typeface="Baskerville Old Face" panose="02020602080505020303" pitchFamily="18" charset="0"/>
                <a:ea typeface="Calibri" pitchFamily="34" charset="-122"/>
                <a:cs typeface="Calibri" pitchFamily="34" charset="-120"/>
              </a:rPr>
              <a:t>Only FileManager touches the disk, and _discount_from_dict rebuilds the correct Discount subclass when loading.</a:t>
            </a:r>
            <a:endParaRPr lang="en-US" sz="1300" dirty="0">
              <a:latin typeface="Baskerville Old Face" panose="02020602080505020303" pitchFamily="18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thin Tkinter client on top of the model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327544" y="3641904"/>
            <a:ext cx="2552134" cy="198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27544" y="3943656"/>
            <a:ext cx="2552134" cy="396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shows live numbers from dashboard_stats()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300712" y="3641904"/>
            <a:ext cx="2552134" cy="198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and tables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300712" y="3943656"/>
            <a:ext cx="2552134" cy="396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Dialogs call the model methods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301176" y="3641904"/>
            <a:ext cx="2552134" cy="198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feedback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301176" y="3943656"/>
            <a:ext cx="2552134" cy="396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appear as readable messages</a:t>
            </a:r>
            <a:endParaRPr lang="en-US" sz="12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0AA1AA6-A47C-4EE6-B5D0-BA12D9BB2AB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6676" t="3195"/>
          <a:stretch/>
        </p:blipFill>
        <p:spPr>
          <a:xfrm>
            <a:off x="340662" y="1288591"/>
            <a:ext cx="2443482" cy="1937362"/>
          </a:xfrm>
          <a:prstGeom prst="roundRect">
            <a:avLst>
              <a:gd name="adj" fmla="val 4167"/>
            </a:avLst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249818A-EB2C-4C81-B6EC-238994695DC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6046" t="3381" r="1044" b="1237"/>
          <a:stretch/>
        </p:blipFill>
        <p:spPr>
          <a:xfrm>
            <a:off x="3264381" y="1301004"/>
            <a:ext cx="2542368" cy="1942004"/>
          </a:xfrm>
          <a:prstGeom prst="roundRect">
            <a:avLst>
              <a:gd name="adj" fmla="val 4167"/>
            </a:avLst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83F63B9-4EA5-45E1-B989-4B0FEA58F8D3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6269" t="3241" r="746" b="1237"/>
          <a:stretch/>
        </p:blipFill>
        <p:spPr>
          <a:xfrm>
            <a:off x="6280898" y="1294319"/>
            <a:ext cx="2542368" cy="1952626"/>
          </a:xfrm>
          <a:prstGeom prst="roundRect">
            <a:avLst>
              <a:gd name="adj" fmla="val 4167"/>
            </a:avLst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THE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scenarios prove the rules hold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DE0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1483512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39791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 flows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76367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270"/>
                </a:solidFill>
                <a:latin typeface="Bodoni MT" panose="02070603080606020203" pitchFamily="18" charset="0"/>
                <a:ea typeface="Calibri" pitchFamily="34" charset="-122"/>
                <a:cs typeface="Calibri" pitchFamily="34" charset="-120"/>
              </a:rPr>
              <a:t>add item, full order, search</a:t>
            </a:r>
            <a:endParaRPr lang="en-US" sz="1200" dirty="0">
              <a:latin typeface="Bodoni MT" panose="02070603080606020203" pitchFamily="18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560320" y="137160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DE0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560320" y="1483512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239791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input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697480" y="276367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270"/>
                </a:solidFill>
                <a:latin typeface="Bodoni MT" panose="02070603080606020203" pitchFamily="18" charset="0"/>
                <a:ea typeface="Calibri" pitchFamily="34" charset="-122"/>
                <a:cs typeface="Calibri" pitchFamily="34" charset="-120"/>
              </a:rPr>
              <a:t>negative price, zero quantity, missing table</a:t>
            </a:r>
            <a:endParaRPr lang="en-US" sz="1200" dirty="0">
              <a:latin typeface="Bodoni MT" panose="02070603080606020203" pitchFamily="18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663440" y="137160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DE0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663440" y="1483512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7A81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4800600" y="239791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rules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800600" y="276367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270"/>
                </a:solidFill>
                <a:latin typeface="Bodoni MT" panose="02070603080606020203" pitchFamily="18" charset="0"/>
                <a:ea typeface="Calibri" pitchFamily="34" charset="-122"/>
                <a:cs typeface="Calibri" pitchFamily="34" charset="-120"/>
              </a:rPr>
              <a:t>occupied table, empty checkout</a:t>
            </a:r>
            <a:endParaRPr lang="en-US" sz="1200" dirty="0">
              <a:latin typeface="Bodoni MT" panose="02070603080606020203" pitchFamily="18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6766560" y="137160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DE0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766560" y="1483512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800" dirty="0"/>
          </a:p>
        </p:txBody>
      </p:sp>
      <p:sp>
        <p:nvSpPr>
          <p:cNvPr id="19" name="Text 16"/>
          <p:cNvSpPr txBox="1"/>
          <p:nvPr/>
        </p:nvSpPr>
        <p:spPr>
          <a:xfrm>
            <a:off x="6903720" y="239791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cases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903720" y="276367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270"/>
                </a:solidFill>
                <a:latin typeface="Bodoni MT" panose="02070603080606020203" pitchFamily="18" charset="0"/>
                <a:ea typeface="Calibri" pitchFamily="34" charset="-122"/>
                <a:cs typeface="Calibri" pitchFamily="34" charset="-120"/>
              </a:rPr>
              <a:t>merged items, 100% discount and cancel</a:t>
            </a:r>
            <a:endParaRPr lang="en-US" sz="1200" dirty="0">
              <a:latin typeface="Bodoni MT" panose="02070603080606020203" pitchFamily="18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14118"/>
            </a:avLst>
          </a:prstGeom>
          <a:solidFill>
            <a:srgbClr val="1B1F2A"/>
          </a:solidFill>
          <a:ln w="12700">
            <a:solidFill>
              <a:srgbClr val="1B1F2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" y="40233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pytest.raises(TableOccupiedError):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restaurant.create_order(table_id=1)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1F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OOP concepts and where they live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2B3142"/>
          </a:solidFill>
          <a:ln w="12700">
            <a:solidFill>
              <a:srgbClr val="2B31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92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Encapsulation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93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DD6"/>
                </a:solidFill>
                <a:latin typeface="Bodoni MT" panose="02070603080606020203" pitchFamily="18" charset="0"/>
                <a:ea typeface="Calibri" pitchFamily="34" charset="-122"/>
                <a:cs typeface="Calibri" pitchFamily="34" charset="-120"/>
              </a:rPr>
              <a:t>MenuItem.__price with property setter</a:t>
            </a:r>
            <a:endParaRPr lang="en-US" sz="1200" dirty="0">
              <a:latin typeface="Bodoni MT" panose="02070603080606020203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2B3142"/>
          </a:solidFill>
          <a:ln w="12700">
            <a:solidFill>
              <a:srgbClr val="2B314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1392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Abstraction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1693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DD6"/>
                </a:solidFill>
                <a:latin typeface="Bodoni MT" panose="02070603080606020203" pitchFamily="18" charset="0"/>
                <a:ea typeface="Calibri" pitchFamily="34" charset="-122"/>
                <a:cs typeface="Calibri" pitchFamily="34" charset="-120"/>
              </a:rPr>
              <a:t>Discount(ABC) with abstract methods</a:t>
            </a:r>
            <a:endParaRPr lang="en-US" sz="1200" dirty="0">
              <a:latin typeface="Bodoni MT" panose="02070603080606020203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2B3142"/>
          </a:solidFill>
          <a:ln w="12700">
            <a:solidFill>
              <a:srgbClr val="2B31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22607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Inheritance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5625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DD6"/>
                </a:solidFill>
                <a:latin typeface="Bodoni MT" panose="02070603080606020203" pitchFamily="18" charset="0"/>
                <a:ea typeface="Calibri" pitchFamily="34" charset="-122"/>
                <a:cs typeface="Calibri" pitchFamily="34" charset="-120"/>
              </a:rPr>
              <a:t>RestaurantError and its 10 subclasses</a:t>
            </a:r>
            <a:endParaRPr lang="en-US" sz="1200" dirty="0">
              <a:latin typeface="Bodoni MT" panose="02070603080606020203" pitchFamily="18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663440" y="21945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2B3142"/>
          </a:solidFill>
          <a:ln w="12700">
            <a:solidFill>
              <a:srgbClr val="2B31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46320" y="22607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Polymorphism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25625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DD6"/>
                </a:solidFill>
                <a:latin typeface="Bodoni MT" panose="02070603080606020203" pitchFamily="18" charset="0"/>
                <a:ea typeface="Calibri" pitchFamily="34" charset="-122"/>
                <a:cs typeface="Calibri" pitchFamily="34" charset="-120"/>
              </a:rPr>
              <a:t>discount.apply() inside Order</a:t>
            </a:r>
            <a:endParaRPr lang="en-US" sz="1200" dirty="0">
              <a:latin typeface="Bodoni MT" panose="02070603080606020203" pitchFamily="18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2B3142"/>
          </a:solidFill>
          <a:ln w="12700">
            <a:solidFill>
              <a:srgbClr val="2B314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294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4311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DD6"/>
                </a:solidFill>
                <a:latin typeface="Bodoni MT" panose="02070603080606020203" pitchFamily="18" charset="0"/>
                <a:ea typeface="Calibri" pitchFamily="34" charset="-122"/>
                <a:cs typeface="Calibri" pitchFamily="34" charset="-120"/>
              </a:rPr>
              <a:t>Restaurant, Order and OrderItem</a:t>
            </a:r>
            <a:endParaRPr lang="en-US" sz="1200" dirty="0">
              <a:latin typeface="Bodoni MT" panose="02070603080606020203" pitchFamily="18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663440" y="30632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2B3142"/>
          </a:solidFill>
          <a:ln w="12700">
            <a:solidFill>
              <a:srgbClr val="2B31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31294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methods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846320" y="34311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DD6"/>
                </a:solidFill>
                <a:latin typeface="Bodoni MT" panose="02070603080606020203" pitchFamily="18" charset="0"/>
                <a:ea typeface="Calibri" pitchFamily="34" charset="-122"/>
                <a:cs typeface="Calibri" pitchFamily="34" charset="-120"/>
              </a:rPr>
              <a:t>from_dict() on each model</a:t>
            </a:r>
            <a:endParaRPr lang="en-US" sz="1200" dirty="0">
              <a:latin typeface="Bodoni MT" panose="02070603080606020203" pitchFamily="18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57200" y="393192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2B3142"/>
          </a:solidFill>
          <a:ln w="12700">
            <a:solidFill>
              <a:srgbClr val="2B314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39981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methods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42998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DD6"/>
                </a:solidFill>
                <a:latin typeface="Bodoni MT" panose="02070603080606020203" pitchFamily="18" charset="0"/>
                <a:ea typeface="Calibri" pitchFamily="34" charset="-122"/>
                <a:cs typeface="Calibri" pitchFamily="34" charset="-120"/>
              </a:rPr>
              <a:t>__str__ on every model</a:t>
            </a:r>
            <a:endParaRPr lang="en-US" sz="1200" dirty="0">
              <a:latin typeface="Bodoni MT" panose="02070603080606020203" pitchFamily="18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663440" y="393192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2B3142"/>
          </a:solidFill>
          <a:ln w="12700">
            <a:solidFill>
              <a:srgbClr val="2B314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46320" y="39981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of concerns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846320" y="42998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DD6"/>
                </a:solidFill>
                <a:latin typeface="Bodoni MT" panose="02070603080606020203" pitchFamily="18" charset="0"/>
                <a:ea typeface="Calibri" pitchFamily="34" charset="-122"/>
                <a:cs typeface="Calibri" pitchFamily="34" charset="-120"/>
              </a:rPr>
              <a:t>models, service, FileManager, GUI</a:t>
            </a:r>
            <a:endParaRPr lang="en-US" sz="1200" dirty="0">
              <a:latin typeface="Bodoni MT" panose="02070603080606020203" pitchFamily="18" charset="0"/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457200" y="4572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1867</Words>
  <Application>Microsoft Office PowerPoint</Application>
  <PresentationFormat>On-screen Show (16:9)</PresentationFormat>
  <Paragraphs>309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5" baseType="lpstr">
      <vt:lpstr>Arial</vt:lpstr>
      <vt:lpstr>Baskerville Old Face</vt:lpstr>
      <vt:lpstr>Bell MT</vt:lpstr>
      <vt:lpstr>Berlin Sans FB Demi</vt:lpstr>
      <vt:lpstr>Bodoni MT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Restaurant Management System - OOP</dc:title>
  <dc:subject>PptxGenJS Presentation</dc:subject>
  <dc:creator>PptxGenJS</dc:creator>
  <cp:lastModifiedBy>yomn osama</cp:lastModifiedBy>
  <cp:revision>3</cp:revision>
  <dcterms:created xsi:type="dcterms:W3CDTF">2026-09-30T15:06:07Z</dcterms:created>
  <dcterms:modified xsi:type="dcterms:W3CDTF">2026-09-30T17:41:11Z</dcterms:modified>
</cp:coreProperties>
</file>